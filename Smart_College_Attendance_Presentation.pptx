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t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7200"/>
            <a:ext cx="1737360" cy="10698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6459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1F5F9"/>
                </a:solidFill>
              </a:defRPr>
            </a:pPr>
            <a:r>
              <a:t>🎓 Smart College Attendance System</a:t>
            </a:r>
          </a:p>
          <a:p>
            <a:pPr>
              <a:spcBef>
                <a:spcPts val="800"/>
              </a:spcBef>
              <a:defRPr sz="1700">
                <a:solidFill>
                  <a:srgbClr val="38BDF8"/>
                </a:solidFill>
              </a:defRPr>
            </a:pPr>
            <a:r>
              <a:t>JavaScript Framework (PBL) - C2620A3 | ITM SLS Baroda University, Vadodara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1033272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114800"/>
            <a:ext cx="9784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DE80"/>
                </a:solidFill>
              </a:defRPr>
            </a:pPr>
            <a:r>
              <a:t>Project Team: Vishakha &amp; Jithendar  |  Group Code: GRP-C2620A3-04</a:t>
            </a:r>
          </a:p>
          <a:p>
            <a:pPr>
              <a:spcBef>
                <a:spcPts val="400"/>
              </a:spcBef>
              <a:defRPr sz="1300">
                <a:solidFill>
                  <a:srgbClr val="F1F5F9"/>
                </a:solidFill>
              </a:defRPr>
            </a:pPr>
            <a:r>
              <a:t>Enrollment: Vishakha (24C22075) • Jithendar (24C22074)  |  5th sem class 4 / BTech Sem 6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Department: B.TECH CSE(AI)  |  Academic Year: 2026–27  |  ITM SLS Baroda University, Vadodara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 COLLEGE ATTENDANCE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Problem Statement &amp; Project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7171"/>
                </a:solidFill>
              </a:defRPr>
            </a:pPr>
            <a:r>
              <a:t>❌ Conventional Attendance Bottlenecks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Time Consumption: 10-15 minutes wasted each lecture on roll-calls.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Proxy Attendance: Easy for peers to answer for absent friends.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Manual Clerical Work: Teachers spend hours tallying paper sheets.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Late Defaulter Notification: Students only discover low attendance right before semester exams.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Error Prone: Paper records are easily misplaced or manipulated.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ADE80"/>
                </a:solidFill>
              </a:defRPr>
            </a:pPr>
            <a:r>
              <a:t>✅ Proposed Computer Vision Solution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</a:defRPr>
            </a:pPr>
            <a:r>
              <a:t>• Zero-Contact Biometrics: Automated face detection and recognition.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</a:defRPr>
            </a:pPr>
            <a:r>
              <a:t>• Real-Time Speed: Instant attendance logging in sub-50 milliseconds.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</a:defRPr>
            </a:pPr>
            <a:r>
              <a:t>• Anti-Proxy Lock: Biometric uniqueness prevents peer fraud completely.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</a:defRPr>
            </a:pPr>
            <a:r>
              <a:t>• Smart De-Duplication: Blocks marking attendance twice in the same class.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</a:defRPr>
            </a:pPr>
            <a:r>
              <a:t>• Automated Compliance: Real-time university 75% exam eligibility tracking.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</a:defRPr>
            </a:pPr>
            <a:r>
              <a:t>• Zero Hardware Cost: Runs seamlessly on any standard laptop webcam.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 COLLEGE ATTENDANCE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High-Level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1. Presentation Layer (Streamlit)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Interactive web portal with Dashboard, Scanner, Registration, Roster, and Defaulter Reports.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2. Image Preprocessing (CLAHE)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Adaptive histogram equalization balancing sunlight, indoor lighting, shadows, and spectacles.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AB308"/>
                </a:solidFill>
              </a:defRPr>
            </a:pPr>
            <a:r>
              <a:t>3. Dual-Cascade Face Detector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Multi-pass Haar Cascade (alt2 primary + default fallback) ensuring zero missed face crops.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ADE80"/>
                </a:solidFill>
              </a:defRPr>
            </a:pPr>
            <a:r>
              <a:t>4. Biometric Recognizer (LBPH)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8x8 circular neighborhood micro-texture extraction, Chi-Square template distance classification.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43F5E"/>
                </a:solidFill>
              </a:defRPr>
            </a:pPr>
            <a:r>
              <a:t>5. Relational Persistence (SQLite3)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ACID-compliant storage enforcing composite unique constraint UNIQUE(student_id, date, course).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 COLLEGE ATTENDANCE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Computer Vision &amp; Face Recognition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1. Adaptive CLAHE Filter</a:t>
            </a:r>
          </a:p>
          <a:p>
            <a:pPr>
              <a:spcBef>
                <a:spcPts val="800"/>
              </a:spcBef>
              <a:defRPr sz="1100">
                <a:solidFill>
                  <a:srgbClr val="F1F5F9"/>
                </a:solidFill>
              </a:defRPr>
            </a:pPr>
            <a:r>
              <a:t>• Contrast-Limited Adaptive Histogram Equalization.</a:t>
            </a:r>
          </a:p>
          <a:p>
            <a:pPr>
              <a:spcBef>
                <a:spcPts val="800"/>
              </a:spcBef>
              <a:defRPr sz="1100">
                <a:solidFill>
                  <a:srgbClr val="F1F5F9"/>
                </a:solidFill>
              </a:defRPr>
            </a:pPr>
            <a:r>
              <a:t>• 8x8 contextual tile grid with clipLimit = 2.0.</a:t>
            </a:r>
          </a:p>
          <a:p>
            <a:pPr>
              <a:spcBef>
                <a:spcPts val="800"/>
              </a:spcBef>
              <a:defRPr sz="1100">
                <a:solidFill>
                  <a:srgbClr val="F1F5F9"/>
                </a:solidFill>
              </a:defRPr>
            </a:pPr>
            <a:r>
              <a:t>• Normalizes glare, window shadows, and lens reflections.</a:t>
            </a:r>
          </a:p>
          <a:p>
            <a:pPr>
              <a:spcBef>
                <a:spcPts val="800"/>
              </a:spcBef>
              <a:defRPr sz="1100">
                <a:solidFill>
                  <a:srgbClr val="F1F5F9"/>
                </a:solidFill>
              </a:defRPr>
            </a:pPr>
            <a:r>
              <a:t>• Crucial for high accuracy with students wearing glasses.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2. Dual-Cascade Detection</a:t>
            </a:r>
          </a:p>
          <a:p>
            <a:pPr>
              <a:spcBef>
                <a:spcPts val="800"/>
              </a:spcBef>
              <a:defRPr sz="1100">
                <a:solidFill>
                  <a:srgbClr val="F1F5F9"/>
                </a:solidFill>
              </a:defRPr>
            </a:pPr>
            <a:r>
              <a:t>• Primary: haarcascade_frontalface_alt2 (optimized for tilt/glasses).</a:t>
            </a:r>
          </a:p>
          <a:p>
            <a:pPr>
              <a:spcBef>
                <a:spcPts val="800"/>
              </a:spcBef>
              <a:defRPr sz="1100">
                <a:solidFill>
                  <a:srgbClr val="F1F5F9"/>
                </a:solidFill>
              </a:defRPr>
            </a:pPr>
            <a:r>
              <a:t>• Secondary Fallback: haarcascade_frontalface_default.</a:t>
            </a:r>
          </a:p>
          <a:p>
            <a:pPr>
              <a:spcBef>
                <a:spcPts val="800"/>
              </a:spcBef>
              <a:defRPr sz="1100">
                <a:solidFill>
                  <a:srgbClr val="F1F5F9"/>
                </a:solidFill>
              </a:defRPr>
            </a:pPr>
            <a:r>
              <a:t>• scaleFactor = 1.1, minNeighbors = 4.</a:t>
            </a:r>
          </a:p>
          <a:p>
            <a:pPr>
              <a:spcBef>
                <a:spcPts val="800"/>
              </a:spcBef>
              <a:defRPr sz="1100">
                <a:solidFill>
                  <a:srgbClr val="F1F5F9"/>
                </a:solidFill>
              </a:defRPr>
            </a:pPr>
            <a:r>
              <a:t>• Extracts standardized 200x200 pixel grayscale face crops.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3. LBPH Recognition Engine</a:t>
            </a:r>
          </a:p>
          <a:p>
            <a:pPr>
              <a:spcBef>
                <a:spcPts val="800"/>
              </a:spcBef>
              <a:defRPr sz="1100">
                <a:solidFill>
                  <a:srgbClr val="F1F5F9"/>
                </a:solidFill>
              </a:defRPr>
            </a:pPr>
            <a:r>
              <a:t>• Local Binary Patterns: 8 circular neighbors thresholded against center pixel.</a:t>
            </a:r>
          </a:p>
          <a:p>
            <a:pPr>
              <a:spcBef>
                <a:spcPts val="800"/>
              </a:spcBef>
              <a:defRPr sz="1100">
                <a:solidFill>
                  <a:srgbClr val="F1F5F9"/>
                </a:solidFill>
              </a:defRPr>
            </a:pPr>
            <a:r>
              <a:t>• Concatenated 8x8 spatial histogram vector.</a:t>
            </a:r>
          </a:p>
          <a:p>
            <a:pPr>
              <a:spcBef>
                <a:spcPts val="800"/>
              </a:spcBef>
              <a:defRPr sz="1100">
                <a:solidFill>
                  <a:srgbClr val="F1F5F9"/>
                </a:solidFill>
              </a:defRPr>
            </a:pPr>
            <a:r>
              <a:t>• Chi-Square distance matching with threshold cutoff at 43.5.</a:t>
            </a:r>
          </a:p>
          <a:p>
            <a:pPr>
              <a:spcBef>
                <a:spcPts val="800"/>
              </a:spcBef>
              <a:defRPr sz="1100">
                <a:solidFill>
                  <a:srgbClr val="F1F5F9"/>
                </a:solidFill>
              </a:defRPr>
            </a:pPr>
            <a:r>
              <a:t>• Distance &lt;= 43.5 =&gt; Genuine student | Distance &gt; 43.5 =&gt; Unknown.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 COLLEGE ATTENDANCE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Rapid 1-2 Photo Biometric Registration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4ADE80"/>
                </a:solidFill>
              </a:defRPr>
            </a:pPr>
            <a:r>
              <a:t>⚡ Overcoming the Multi-Angle Registration Burden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Traditional LBPH Limitation: Typically requires 15 to 30 manual photos per student, causing fatigue during mass classroom enrollments.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Our Innovation: Multi-Angle Synthetic Augmentation Engine built directly into model training.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User Experience: A student only needs to snap 1 or 2 quick photos via the webcam or 1-second burst capture.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Internal Synthesis: Behind the scenes, the training pipeline automatically synthesizes 7 calibrated variations per photo: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    - Illumination variance: Positive (+12) &amp; Negative (-12) brightness shifts.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    - Dynamic lighting: Contrast adjustments (alpha = 1.05 and 0.95).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    - Distance simulation: 4%, 8%, and 12% center crop zoom levels resized back to 200x200.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Result: 1 photo becomes 8 training samples; 2 photos become 16 samples. Zero false-positive sponge effect and sub-second registration!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 COLLEGE ATTENDANCE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Database Architecture &amp; De-duplication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🗄️ SQLite Relational Schema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Table: students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  - id (PK), roll_no (UNIQUE), name, department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  - semester, section, email, phone, photo_count</a:t>
            </a:r>
          </a:p>
          <a:p>
            <a:pPr>
              <a:defRPr sz="1100">
                <a:solidFill>
                  <a:srgbClr val="F1F5F9"/>
                </a:solidFill>
              </a:defRPr>
            </a:pP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Table: attendance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  - id (PK), student_id (FK -&gt; students.id)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  - roll_no, date (YYYY-MM-DD), time (HH:MM:SS)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  - course, status (Present/Late/Excused), confidence</a:t>
            </a:r>
          </a:p>
          <a:p>
            <a:pPr>
              <a:defRPr sz="1100">
                <a:solidFill>
                  <a:srgbClr val="F1F5F9"/>
                </a:solidFill>
              </a:defRPr>
            </a:pP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Indexes: Faster search on roll_no, date, course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AB308"/>
                </a:solidFill>
              </a:defRPr>
            </a:pPr>
            <a:r>
              <a:t>🛡️ Integrity &amp; Anti-Proxy Constraints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Composite Unique Constraint: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  UNIQUE(student_id, date, course)</a:t>
            </a:r>
          </a:p>
          <a:p>
            <a:pPr>
              <a:defRPr sz="1100">
                <a:solidFill>
                  <a:srgbClr val="F1F5F9"/>
                </a:solidFill>
              </a:defRPr>
            </a:pP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De-Duplication Lock: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  Even if a student scans multiple times in a class, only the first instance is recorded. Redundant scans are rejected with an info message.</a:t>
            </a:r>
          </a:p>
          <a:p>
            <a:pPr>
              <a:defRPr sz="1100">
                <a:solidFill>
                  <a:srgbClr val="F1F5F9"/>
                </a:solidFill>
              </a:defRPr>
            </a:pP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Strict Imposter Rejection: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  Distance threshold at 43.5 ensures unregistered faces receive a red 'Unknown Face' bounding box with zero attendance write.</a:t>
            </a:r>
          </a:p>
          <a:p>
            <a:pPr>
              <a:defRPr sz="1100">
                <a:solidFill>
                  <a:srgbClr val="F1F5F9"/>
                </a:solidFill>
              </a:defRPr>
            </a:pP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Edge Sovereignty: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  All face vectors and logs remain local. 100% compliant with student data privacy.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 COLLEGE ATTENDANCE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Academic Analytics &amp; Defaulter Tracking (&lt;75%)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43F5E"/>
                </a:solidFill>
              </a:defRPr>
            </a:pPr>
            <a:r>
              <a:t>📊 University Examination Eligibility Monitoring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Regulatory Compliance: University regulations mandate a minimum of 75% attendance for semester examination eligibility.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Automated Mathematical Calculation: Attendance % = (Classes Attended / Total Classes Held) * 100.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Color-Coded Status Highlights: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  - Eligible (&gt;= 75%): Displayed in clean Emerald Green rows.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  - Defaulter (&lt; 75%): Automatically flagged in Crimson Red with shortage warning count.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One-Click Academic Exports: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  - Download complete attendance log as Excel (.xlsx) with styled headers.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  - Download Defaulter Notification Sheet (CSV) ready for notice board publication.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Departmental Filters: Filter records instantly by Department, Subject, and Date Range.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 COLLEGE ATTENDANCE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Testing &amp; Experimental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ADE80"/>
                </a:solidFill>
              </a:defRPr>
            </a:pPr>
            <a:r>
              <a:t>🧪 Automated Test Suite (100% Pass)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Ran 7 Comprehensive Unit Tests: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test_add_and_get_student -&gt; PASS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test_mark_attendance_and_deduplication -&gt; PASS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test_attendance_records_filtering -&gt; PASS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test_student_attendance_summary -&gt; PASS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test_dataset_collector -&gt; PASS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test_detector_initialization_and_drawing -&gt; PASS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test_recognizer_train_and_predict -&gt; PASS</a:t>
            </a:r>
          </a:p>
          <a:p>
            <a:pPr>
              <a:defRPr sz="1100">
                <a:solidFill>
                  <a:srgbClr val="F1F5F9"/>
                </a:solidFill>
              </a:defRPr>
            </a:pP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Total Execution Time: 0.56 seconds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Zero regressions, ACID compliance verified.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📈 Live Biometric Separation Benchmark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Tested on Real Student Webcam Captures:</a:t>
            </a:r>
          </a:p>
          <a:p>
            <a:pPr>
              <a:defRPr sz="1100">
                <a:solidFill>
                  <a:srgbClr val="F1F5F9"/>
                </a:solidFill>
              </a:defRPr>
            </a:pP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Registered Student (Vishakha - Angle 1):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    Distance: 0.0  |  Match: 100.0%  (Verified ✅)</a:t>
            </a:r>
          </a:p>
          <a:p>
            <a:pPr>
              <a:defRPr sz="1100">
                <a:solidFill>
                  <a:srgbClr val="F1F5F9"/>
                </a:solidFill>
              </a:defRPr>
            </a:pP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Registered Student (Vishakha - Angle 2):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    Distance: 32.2  |  Match: 76.5%  (Verified ✅)</a:t>
            </a:r>
          </a:p>
          <a:p>
            <a:pPr>
              <a:defRPr sz="1100">
                <a:solidFill>
                  <a:srgbClr val="F1F5F9"/>
                </a:solidFill>
              </a:defRPr>
            </a:pP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Unregistered Third Person: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    Distance: 46.5  |  Match: 54.0%  (Rejected ❌)</a:t>
            </a:r>
          </a:p>
          <a:p>
            <a:pPr>
              <a:defRPr sz="1100">
                <a:solidFill>
                  <a:srgbClr val="F1F5F9"/>
                </a:solidFill>
              </a:defRPr>
            </a:pP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Cross-Subject Separation Gap: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    Distance: 59.8  |  Strictly Rejected ❌</a:t>
            </a:r>
          </a:p>
          <a:p>
            <a:pPr>
              <a:defRPr sz="1100">
                <a:solidFill>
                  <a:srgbClr val="F1F5F9"/>
                </a:solidFill>
              </a:defRPr>
            </a:pP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Average Inference Latency: &lt; 40ms per frame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 COLLEGE ATTENDANCE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Conclusion &amp; 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🎯 Summary &amp; Takeaways</a:t>
            </a:r>
          </a:p>
          <a:p>
            <a:pPr>
              <a:spcBef>
                <a:spcPts val="400"/>
              </a:spcBef>
              <a:defRPr sz="1200">
                <a:solidFill>
                  <a:srgbClr val="F1F5F9"/>
                </a:solidFill>
              </a:defRPr>
            </a:pPr>
            <a:r>
              <a:t>1. Academic Impact: Successfully eliminates manual roll-call overhead, saving 10-15 minutes of every lecture.</a:t>
            </a:r>
          </a:p>
          <a:p>
            <a:pPr>
              <a:spcBef>
                <a:spcPts val="400"/>
              </a:spcBef>
              <a:defRPr sz="1200">
                <a:solidFill>
                  <a:srgbClr val="F1F5F9"/>
                </a:solidFill>
              </a:defRPr>
            </a:pPr>
            <a:r>
              <a:t>2. Biometric Accuracy: CLAHE and dual-cascade detection deliver robust recognition even with spectacles and classroom lighting variations.</a:t>
            </a:r>
          </a:p>
          <a:p>
            <a:pPr>
              <a:spcBef>
                <a:spcPts val="400"/>
              </a:spcBef>
              <a:defRPr sz="1200">
                <a:solidFill>
                  <a:srgbClr val="F1F5F9"/>
                </a:solidFill>
              </a:defRPr>
            </a:pPr>
            <a:r>
              <a:t>3. User Convenience: 1 or 2 photo registration with synthetic augmentation enables rapid mass enrollment.</a:t>
            </a:r>
          </a:p>
          <a:p>
            <a:pPr>
              <a:spcBef>
                <a:spcPts val="400"/>
              </a:spcBef>
              <a:defRPr sz="1200">
                <a:solidFill>
                  <a:srgbClr val="F1F5F9"/>
                </a:solidFill>
              </a:defRPr>
            </a:pPr>
            <a:r>
              <a:t>4. Administrative Efficiency: Automated 75% defaulter detection with 1-click Excel export streamlines college audits.</a:t>
            </a:r>
          </a:p>
          <a:p>
            <a:pPr>
              <a:spcBef>
                <a:spcPts val="400"/>
              </a:spcBef>
              <a:defRPr sz="1200">
                <a:solidFill>
                  <a:srgbClr val="F1F5F9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F1F5F9"/>
                </a:solidFill>
              </a:defRPr>
            </a:pPr>
            <a:r>
              <a:t>🚀 Future Scope:</a:t>
            </a:r>
          </a:p>
          <a:p>
            <a:pPr>
              <a:spcBef>
                <a:spcPts val="400"/>
              </a:spcBef>
              <a:defRPr sz="1200">
                <a:solidFill>
                  <a:srgbClr val="F1F5F9"/>
                </a:solidFill>
              </a:defRPr>
            </a:pPr>
            <a:r>
              <a:t>• Liveness Detection: Integrate eye-blink / head-nod verification to prevent screen-photo spoofing.</a:t>
            </a:r>
          </a:p>
          <a:p>
            <a:pPr>
              <a:spcBef>
                <a:spcPts val="400"/>
              </a:spcBef>
              <a:defRPr sz="1200">
                <a:solidFill>
                  <a:srgbClr val="F1F5F9"/>
                </a:solidFill>
              </a:defRPr>
            </a:pPr>
            <a:r>
              <a:t>• Automated SMS/WhatsApp Alerts: Direct API triggers sending weekly attendance warnings to parents.</a:t>
            </a:r>
          </a:p>
          <a:p>
            <a:pPr>
              <a:spcBef>
                <a:spcPts val="400"/>
              </a:spcBef>
              <a:defRPr sz="1200">
                <a:solidFill>
                  <a:srgbClr val="F1F5F9"/>
                </a:solidFill>
              </a:defRPr>
            </a:pPr>
            <a:r>
              <a:t>• Classroom CCTV Integration: Real-time multi-face recognition from ceiling-mounted RTSP IP cameras.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1F5F9"/>
                </a:solidFill>
              </a:defRPr>
            </a:pPr>
            <a:r>
              <a:t>Thank You!</a:t>
            </a:r>
          </a:p>
          <a:p>
            <a:pPr algn="ctr">
              <a:spcBef>
                <a:spcPts val="1200"/>
              </a:spcBef>
              <a:defRPr sz="2000">
                <a:solidFill>
                  <a:srgbClr val="38BDF8"/>
                </a:solidFill>
              </a:defRPr>
            </a:pPr>
            <a:r>
              <a:t>Smart College Attendance System with Face Recognition</a:t>
            </a:r>
          </a:p>
          <a:p>
            <a:pPr algn="ctr">
              <a:spcBef>
                <a:spcPts val="800"/>
              </a:spcBef>
              <a:defRPr sz="1500">
                <a:solidFill>
                  <a:srgbClr val="4ADE80"/>
                </a:solidFill>
              </a:defRPr>
            </a:pPr>
            <a:r>
              <a:t>Vishakha (24C22075) &amp; Jithendar (24C22074)  •  B.TECH CSE(AI) (5th sem class 4)</a:t>
            </a:r>
          </a:p>
          <a:p>
            <a:pPr algn="ctr">
              <a:spcBef>
                <a:spcPts val="1600"/>
              </a:spcBef>
              <a:defRPr sz="1400">
                <a:solidFill>
                  <a:srgbClr val="94A3B8"/>
                </a:solidFill>
              </a:defRPr>
            </a:pPr>
            <a:r>
              <a:t>Open for Questions &amp; Live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